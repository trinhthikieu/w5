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ong trinh" userId="5754abeffe63b1e9" providerId="LiveId" clId="{C2FD833C-D376-4255-B494-5250B4D06B1E}"/>
    <pc:docChg chg="addSld modSld">
      <pc:chgData name="khuong trinh" userId="5754abeffe63b1e9" providerId="LiveId" clId="{C2FD833C-D376-4255-B494-5250B4D06B1E}" dt="2026-10-20T16:51:55.206" v="31" actId="22"/>
      <pc:docMkLst>
        <pc:docMk/>
      </pc:docMkLst>
      <pc:sldChg chg="addSp modSp new mod">
        <pc:chgData name="khuong trinh" userId="5754abeffe63b1e9" providerId="LiveId" clId="{C2FD833C-D376-4255-B494-5250B4D06B1E}" dt="2026-10-20T16:31:20.728" v="5" actId="1076"/>
        <pc:sldMkLst>
          <pc:docMk/>
          <pc:sldMk cId="2325006573" sldId="264"/>
        </pc:sldMkLst>
        <pc:spChg chg="add mod">
          <ac:chgData name="khuong trinh" userId="5754abeffe63b1e9" providerId="LiveId" clId="{C2FD833C-D376-4255-B494-5250B4D06B1E}" dt="2026-10-20T16:31:17.819" v="3" actId="1076"/>
          <ac:spMkLst>
            <pc:docMk/>
            <pc:sldMk cId="2325006573" sldId="264"/>
            <ac:spMk id="3" creationId="{9A14FA0A-A261-F6D1-DBE5-6A75E956060F}"/>
          </ac:spMkLst>
        </pc:spChg>
        <pc:graphicFrameChg chg="add mod">
          <ac:chgData name="khuong trinh" userId="5754abeffe63b1e9" providerId="LiveId" clId="{C2FD833C-D376-4255-B494-5250B4D06B1E}" dt="2026-10-20T16:31:20.728" v="5" actId="1076"/>
          <ac:graphicFrameMkLst>
            <pc:docMk/>
            <pc:sldMk cId="2325006573" sldId="264"/>
            <ac:graphicFrameMk id="4" creationId="{55AAFF9F-D390-0555-4DE2-DE198533015C}"/>
          </ac:graphicFrameMkLst>
        </pc:graphicFrameChg>
      </pc:sldChg>
      <pc:sldChg chg="addSp modSp new mod">
        <pc:chgData name="khuong trinh" userId="5754abeffe63b1e9" providerId="LiveId" clId="{C2FD833C-D376-4255-B494-5250B4D06B1E}" dt="2026-10-20T16:33:09.996" v="13" actId="14100"/>
        <pc:sldMkLst>
          <pc:docMk/>
          <pc:sldMk cId="283418566" sldId="265"/>
        </pc:sldMkLst>
        <pc:spChg chg="add mod">
          <ac:chgData name="khuong trinh" userId="5754abeffe63b1e9" providerId="LiveId" clId="{C2FD833C-D376-4255-B494-5250B4D06B1E}" dt="2026-10-20T16:33:09.996" v="13" actId="14100"/>
          <ac:spMkLst>
            <pc:docMk/>
            <pc:sldMk cId="283418566" sldId="265"/>
            <ac:spMk id="3" creationId="{0F83B0C2-C743-0347-53A6-009013321402}"/>
          </ac:spMkLst>
        </pc:spChg>
        <pc:spChg chg="add mod">
          <ac:chgData name="khuong trinh" userId="5754abeffe63b1e9" providerId="LiveId" clId="{C2FD833C-D376-4255-B494-5250B4D06B1E}" dt="2026-10-20T16:33:06.222" v="12" actId="20577"/>
          <ac:spMkLst>
            <pc:docMk/>
            <pc:sldMk cId="283418566" sldId="265"/>
            <ac:spMk id="5" creationId="{94CCD1D4-1387-607E-CA8B-ED68FB7643BC}"/>
          </ac:spMkLst>
        </pc:spChg>
      </pc:sldChg>
      <pc:sldChg chg="addSp modSp new mod">
        <pc:chgData name="khuong trinh" userId="5754abeffe63b1e9" providerId="LiveId" clId="{C2FD833C-D376-4255-B494-5250B4D06B1E}" dt="2026-10-20T16:38:50.149" v="16" actId="1076"/>
        <pc:sldMkLst>
          <pc:docMk/>
          <pc:sldMk cId="2825561311" sldId="266"/>
        </pc:sldMkLst>
        <pc:spChg chg="add mod">
          <ac:chgData name="khuong trinh" userId="5754abeffe63b1e9" providerId="LiveId" clId="{C2FD833C-D376-4255-B494-5250B4D06B1E}" dt="2026-10-20T16:38:50.149" v="16" actId="1076"/>
          <ac:spMkLst>
            <pc:docMk/>
            <pc:sldMk cId="2825561311" sldId="266"/>
            <ac:spMk id="3" creationId="{91C2E08C-654B-B87B-F380-5ADF71CC6A3E}"/>
          </ac:spMkLst>
        </pc:spChg>
      </pc:sldChg>
      <pc:sldChg chg="addSp modSp new mod">
        <pc:chgData name="khuong trinh" userId="5754abeffe63b1e9" providerId="LiveId" clId="{C2FD833C-D376-4255-B494-5250B4D06B1E}" dt="2026-10-20T16:43:48.623" v="24" actId="1076"/>
        <pc:sldMkLst>
          <pc:docMk/>
          <pc:sldMk cId="4195599893" sldId="267"/>
        </pc:sldMkLst>
        <pc:spChg chg="add mod">
          <ac:chgData name="khuong trinh" userId="5754abeffe63b1e9" providerId="LiveId" clId="{C2FD833C-D376-4255-B494-5250B4D06B1E}" dt="2026-10-20T16:43:25.359" v="20" actId="1076"/>
          <ac:spMkLst>
            <pc:docMk/>
            <pc:sldMk cId="4195599893" sldId="267"/>
            <ac:spMk id="3" creationId="{53AD3A01-7591-D713-9AC8-EB679BBCBFA8}"/>
          </ac:spMkLst>
        </pc:spChg>
        <pc:spChg chg="add mod">
          <ac:chgData name="khuong trinh" userId="5754abeffe63b1e9" providerId="LiveId" clId="{C2FD833C-D376-4255-B494-5250B4D06B1E}" dt="2026-10-20T16:43:48.623" v="24" actId="1076"/>
          <ac:spMkLst>
            <pc:docMk/>
            <pc:sldMk cId="4195599893" sldId="267"/>
            <ac:spMk id="5" creationId="{DF595348-41FD-8A11-84E4-2E2CBBA8956D}"/>
          </ac:spMkLst>
        </pc:spChg>
        <pc:graphicFrameChg chg="add mod">
          <ac:chgData name="khuong trinh" userId="5754abeffe63b1e9" providerId="LiveId" clId="{C2FD833C-D376-4255-B494-5250B4D06B1E}" dt="2026-10-20T16:43:44.690" v="22" actId="1076"/>
          <ac:graphicFrameMkLst>
            <pc:docMk/>
            <pc:sldMk cId="4195599893" sldId="267"/>
            <ac:graphicFrameMk id="2" creationId="{18B66879-1341-B9F4-A074-AF0E7EA909C7}"/>
          </ac:graphicFrameMkLst>
        </pc:graphicFrameChg>
      </pc:sldChg>
      <pc:sldChg chg="addSp modSp new mod">
        <pc:chgData name="khuong trinh" userId="5754abeffe63b1e9" providerId="LiveId" clId="{C2FD833C-D376-4255-B494-5250B4D06B1E}" dt="2026-10-20T16:51:55.206" v="31" actId="22"/>
        <pc:sldMkLst>
          <pc:docMk/>
          <pc:sldMk cId="652672317" sldId="268"/>
        </pc:sldMkLst>
        <pc:picChg chg="add mod">
          <ac:chgData name="khuong trinh" userId="5754abeffe63b1e9" providerId="LiveId" clId="{C2FD833C-D376-4255-B494-5250B4D06B1E}" dt="2026-10-20T16:50:40.481" v="28" actId="1076"/>
          <ac:picMkLst>
            <pc:docMk/>
            <pc:sldMk cId="652672317" sldId="268"/>
            <ac:picMk id="3" creationId="{24FECB63-80AD-1BDE-EA60-EDA6F16D9AEA}"/>
          </ac:picMkLst>
        </pc:picChg>
        <pc:picChg chg="add mod">
          <ac:chgData name="khuong trinh" userId="5754abeffe63b1e9" providerId="LiveId" clId="{C2FD833C-D376-4255-B494-5250B4D06B1E}" dt="2026-10-20T16:51:25.435" v="30" actId="1076"/>
          <ac:picMkLst>
            <pc:docMk/>
            <pc:sldMk cId="652672317" sldId="268"/>
            <ac:picMk id="5" creationId="{0379B3DF-AAB7-96D5-D0DA-6299E9D641E7}"/>
          </ac:picMkLst>
        </pc:picChg>
        <pc:picChg chg="add">
          <ac:chgData name="khuong trinh" userId="5754abeffe63b1e9" providerId="LiveId" clId="{C2FD833C-D376-4255-B494-5250B4D06B1E}" dt="2026-10-20T16:51:55.206" v="31" actId="22"/>
          <ac:picMkLst>
            <pc:docMk/>
            <pc:sldMk cId="652672317" sldId="268"/>
            <ac:picMk id="7" creationId="{63070463-1B31-E1F4-A43A-A6EC3B1E9B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AEDD-8975-758D-3883-DFA5C8ABB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D1420-AF87-93E0-90B4-2EB8C14D4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E3018-3F2C-6FF9-35E1-239061C5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084C2-139C-3111-4613-9C985A8A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C1026-20A3-EDB4-2E1D-69C3DA5C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2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235C-75BB-B158-627D-36E9E4E10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AA629-E887-F2CA-E541-02B807188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EC1B1-7C45-FA19-37E2-D39644899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77579-4EB9-4E6E-2313-71D391B4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27756-657C-73C7-B8FC-354708E1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67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E994-688C-57CC-EBE9-7EE1A85E1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A95F2-849D-20DC-B61E-0D2D729E0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97A44-12EB-7B2A-E6D9-290EE536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E2BDC-0331-87EE-35C2-C4BD12C6C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A7D38-7850-F80E-196C-1CD1D3DE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8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4803-F90F-DA28-2162-03B516EA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1712-41DA-849A-3CCF-135E724F2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83B6B-B308-6DE1-974C-115DC8C6D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7C21F-620C-5238-A107-1467ECC6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F9325-B6ED-1A3B-DCAE-F25C44FF8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FAD4E-4004-6981-272C-5C5D4C12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1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272E1-C8DD-68EC-FAC1-D2C0EF2E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F62A1-5A0C-347D-C64E-9F9B47919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3FE64-DCA3-7886-F725-708B62A6D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6A88F-D894-675E-1B61-9171D0D80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0E654-670B-7C2A-B2F4-DD79F4876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7BA12E-FCA2-00F5-2839-C54B8C2B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38F13-36A6-04A1-7625-00B92FB6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50E8B-F584-BFA4-D504-625136B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3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D65B-965E-E2A8-E8FE-7352D690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FF72C-5B47-8CE1-F4C7-F821BD0F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837C7-D563-A597-10D8-893894F4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4EA601-ADAF-51BE-E03A-6A0AF2A86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3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B894F-3408-E90A-EF25-33A9773A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810C3-3D54-5BB0-4956-20EC1AE7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D1379-F2B8-7264-3289-FC5A2226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82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0EA6E-7BB9-F0EA-2471-30A72143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42946-4EE9-3A6D-CD45-DEEAD0051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16514-C928-F969-577C-929E2131B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8F4AD-78BE-013A-06B9-15885C32E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B5E75-BBAD-58CC-E19C-E8386C71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0493C-E139-AA2D-9975-28E7FAE5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9ED0-59F9-56F0-0E51-1B77A72B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DEEE7C-7B15-4E81-A23D-A5251E716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D9AC4-ABE4-AF17-1744-E36898125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6ACF1-E00E-D662-CEEC-0BD10760B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F5BF6-F177-3BE5-1115-250854AC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5C2AC-A915-8E59-29CB-5FB7299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8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F8E3-694A-980C-5A76-5D8FAFCD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D3C15-3C23-58F1-8C98-4097D5A3E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CFFF2-DE4F-C449-6548-EF0AAED1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82DB-CD1A-1ED0-DE35-4BFC607D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BC3BF-3719-79A1-CCEE-514143D8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F33B67-7281-0465-9F59-5111013B4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345BF-3C2B-EE7D-F62C-67191705A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C6A35-2A3D-CDDB-F7B3-2D36A932F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D5A6E-BE30-04E2-BC7A-62F6AB57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8C487-1F75-56DA-46F6-154D2770A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4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D1FF85-F57F-7C5C-5749-EAFA3D15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07E4D-AC55-EA18-676B-2BB80DF0A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BE7C9-325C-E3C0-018A-3A0D837C7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C72EF-668C-43E5-910B-D190DD4A8EC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77D35-693D-4C52-505A-0522A72B2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DCA6F-BBF3-082D-95E8-EA6D2DC33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30D57-4FCE-4C48-A462-A67D6C4E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3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vlsi.com/2021/04/multi-bit-flip-flop-vs-single-bit-flip-flops.html?_gl=1%2A19yn9a3%2A_ga%2AMjEzMjA4MTAzNS4xNzkyMjE5MzY4%2A_ga_J9HXVY2P7L%2AczE3OTI1MTA1NTgkbzUkZzEkdDE3OTI1MTA3ODYkajYwJGwwJGgw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548F-26D0-72F7-5BAE-BE72A50F7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506D2-589B-F10A-7842-6B130FB1ED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44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96C728-8D9C-32D9-8012-521683FDCEA9}"/>
              </a:ext>
            </a:extLst>
          </p:cNvPr>
          <p:cNvSpPr txBox="1"/>
          <p:nvPr/>
        </p:nvSpPr>
        <p:spPr>
          <a:xfrm>
            <a:off x="279400" y="1319509"/>
            <a:ext cx="609600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>
              <a:spcBef>
                <a:spcPts val="175"/>
              </a:spcBef>
              <a:buNone/>
            </a:pPr>
            <a:r>
              <a:rPr lang="en-US" sz="2400" b="1" spc="-10" dirty="0">
                <a:effectLst/>
                <a:cs typeface="Gill Sans MT" panose="020B0502020104020203" pitchFamily="34" charset="0"/>
              </a:rPr>
              <a:t>Inputs:</a:t>
            </a:r>
            <a:endParaRPr lang="en-US" dirty="0">
              <a:effectLst/>
            </a:endParaRPr>
          </a:p>
          <a:p>
            <a:pPr marL="566928" indent="-146304">
              <a:lnSpc>
                <a:spcPts val="1200"/>
              </a:lnSpc>
              <a:spcBef>
                <a:spcPts val="170"/>
              </a:spcBef>
              <a:buNone/>
              <a:tabLst>
                <a:tab pos="567055" algn="l"/>
              </a:tabLst>
            </a:pPr>
            <a:r>
              <a:rPr lang="en-US" sz="1800" dirty="0">
                <a:effectLst/>
                <a:cs typeface="Tahoma" panose="020B0604030504040204" pitchFamily="34" charset="0"/>
              </a:rPr>
              <a:t>Netlist</a:t>
            </a:r>
            <a:r>
              <a:rPr lang="en-US" sz="1800" spc="-35" dirty="0">
                <a:effectLst/>
                <a:cs typeface="Tahoma" panose="020B0604030504040204" pitchFamily="34" charset="0"/>
              </a:rPr>
              <a:t> </a:t>
            </a:r>
            <a:r>
              <a:rPr lang="en-US" sz="1800" dirty="0">
                <a:effectLst/>
                <a:cs typeface="Tahoma" panose="020B0604030504040204" pitchFamily="34" charset="0"/>
              </a:rPr>
              <a:t>of</a:t>
            </a:r>
            <a:r>
              <a:rPr lang="en-US" sz="1800" spc="-30" dirty="0">
                <a:effectLst/>
                <a:cs typeface="Tahoma" panose="020B0604030504040204" pitchFamily="34" charset="0"/>
              </a:rPr>
              <a:t> </a:t>
            </a:r>
            <a:r>
              <a:rPr lang="en-US" sz="1800" spc="-45" dirty="0">
                <a:effectLst/>
                <a:cs typeface="Tahoma" panose="020B0604030504040204" pitchFamily="34" charset="0"/>
              </a:rPr>
              <a:t>gates</a:t>
            </a:r>
            <a:r>
              <a:rPr lang="en-US" sz="1800" spc="-30" dirty="0">
                <a:effectLst/>
                <a:cs typeface="Tahoma" panose="020B0604030504040204" pitchFamily="34" charset="0"/>
              </a:rPr>
              <a:t> </a:t>
            </a:r>
            <a:r>
              <a:rPr lang="en-US" sz="1800" spc="-25" dirty="0">
                <a:effectLst/>
                <a:cs typeface="Tahoma" panose="020B0604030504040204" pitchFamily="34" charset="0"/>
              </a:rPr>
              <a:t>and</a:t>
            </a:r>
            <a:r>
              <a:rPr lang="en-US" sz="1800" spc="-30" dirty="0">
                <a:effectLst/>
                <a:cs typeface="Tahoma" panose="020B0604030504040204" pitchFamily="34" charset="0"/>
              </a:rPr>
              <a:t> </a:t>
            </a:r>
            <a:r>
              <a:rPr lang="en-US" sz="1800" spc="-10" dirty="0">
                <a:effectLst/>
                <a:cs typeface="Tahoma" panose="020B0604030504040204" pitchFamily="34" charset="0"/>
              </a:rPr>
              <a:t>wires.</a:t>
            </a:r>
            <a:endParaRPr lang="vi-VN" sz="1800" spc="-10" dirty="0">
              <a:effectLst/>
              <a:cs typeface="Tahoma" panose="020B0604030504040204" pitchFamily="34" charset="0"/>
            </a:endParaRPr>
          </a:p>
          <a:p>
            <a:pPr marL="566928" indent="-146304">
              <a:lnSpc>
                <a:spcPts val="1200"/>
              </a:lnSpc>
              <a:spcBef>
                <a:spcPts val="170"/>
              </a:spcBef>
              <a:buNone/>
              <a:tabLst>
                <a:tab pos="567055" algn="l"/>
              </a:tabLst>
            </a:pPr>
            <a:endParaRPr lang="en-US" dirty="0">
              <a:effectLst/>
            </a:endParaRPr>
          </a:p>
          <a:p>
            <a:pPr marL="566928" indent="-146304">
              <a:lnSpc>
                <a:spcPts val="1200"/>
              </a:lnSpc>
              <a:buNone/>
              <a:tabLst>
                <a:tab pos="567055" algn="l"/>
              </a:tabLst>
            </a:pPr>
            <a:r>
              <a:rPr lang="en-US" sz="1800" spc="-20" dirty="0">
                <a:effectLst/>
                <a:cs typeface="Tahoma" panose="020B0604030504040204" pitchFamily="34" charset="0"/>
              </a:rPr>
              <a:t>Floorplan</a:t>
            </a:r>
            <a:r>
              <a:rPr lang="en-US" sz="1800" spc="-10" dirty="0">
                <a:effectLst/>
                <a:cs typeface="Tahoma" panose="020B0604030504040204" pitchFamily="34" charset="0"/>
              </a:rPr>
              <a:t> </a:t>
            </a:r>
            <a:r>
              <a:rPr lang="en-US" sz="1800" spc="-25" dirty="0">
                <a:effectLst/>
                <a:cs typeface="Tahoma" panose="020B0604030504040204" pitchFamily="34" charset="0"/>
              </a:rPr>
              <a:t>and</a:t>
            </a:r>
            <a:r>
              <a:rPr lang="en-US" sz="1800" spc="-5" dirty="0">
                <a:effectLst/>
                <a:cs typeface="Tahoma" panose="020B0604030504040204" pitchFamily="34" charset="0"/>
              </a:rPr>
              <a:t> </a:t>
            </a:r>
            <a:r>
              <a:rPr lang="en-US" sz="1800" spc="-40" dirty="0">
                <a:effectLst/>
                <a:cs typeface="Tahoma" panose="020B0604030504040204" pitchFamily="34" charset="0"/>
              </a:rPr>
              <a:t>Technology</a:t>
            </a:r>
            <a:r>
              <a:rPr lang="en-US" sz="1800" spc="-15" dirty="0">
                <a:effectLst/>
                <a:cs typeface="Tahoma" panose="020B0604030504040204" pitchFamily="34" charset="0"/>
              </a:rPr>
              <a:t> </a:t>
            </a:r>
            <a:r>
              <a:rPr lang="en-US" sz="1800" spc="-10" dirty="0">
                <a:effectLst/>
                <a:cs typeface="Tahoma" panose="020B0604030504040204" pitchFamily="34" charset="0"/>
              </a:rPr>
              <a:t>constraints</a:t>
            </a:r>
            <a:endParaRPr lang="en-US" dirty="0">
              <a:effectLst/>
            </a:endParaRPr>
          </a:p>
          <a:p>
            <a:pPr marL="292608">
              <a:spcBef>
                <a:spcPts val="195"/>
              </a:spcBef>
              <a:buNone/>
            </a:pPr>
            <a:r>
              <a:rPr lang="en-US" sz="2400" b="1" spc="-10" dirty="0">
                <a:effectLst/>
                <a:cs typeface="Gill Sans MT" panose="020B0502020104020203" pitchFamily="34" charset="0"/>
              </a:rPr>
              <a:t>Outputs:</a:t>
            </a:r>
            <a:endParaRPr lang="en-US" dirty="0">
              <a:effectLst/>
            </a:endParaRPr>
          </a:p>
          <a:p>
            <a:pPr marL="420624">
              <a:spcBef>
                <a:spcPts val="175"/>
              </a:spcBef>
              <a:buNone/>
            </a:pPr>
            <a:r>
              <a:rPr lang="en-US" sz="1400" dirty="0">
                <a:solidFill>
                  <a:srgbClr val="FFFFFF"/>
                </a:solidFill>
                <a:effectLst/>
                <a:cs typeface="Arial" panose="020B0604020202020204" pitchFamily="34" charset="0"/>
              </a:rPr>
              <a:t>1</a:t>
            </a:r>
            <a:r>
              <a:rPr lang="en-US" sz="1400" spc="470" dirty="0">
                <a:solidFill>
                  <a:srgbClr val="FFFFFF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en-US" sz="1800" dirty="0">
                <a:effectLst/>
                <a:cs typeface="Tahoma" panose="020B0604030504040204" pitchFamily="34" charset="0"/>
              </a:rPr>
              <a:t>All </a:t>
            </a:r>
            <a:r>
              <a:rPr lang="en-US" sz="1800" spc="-20" dirty="0">
                <a:effectLst/>
                <a:cs typeface="Tahoma" panose="020B0604030504040204" pitchFamily="34" charset="0"/>
              </a:rPr>
              <a:t>cells</a:t>
            </a:r>
            <a:r>
              <a:rPr lang="en-US" sz="1800" spc="5" dirty="0">
                <a:effectLst/>
                <a:cs typeface="Tahoma" panose="020B0604030504040204" pitchFamily="34" charset="0"/>
              </a:rPr>
              <a:t> </a:t>
            </a:r>
            <a:r>
              <a:rPr lang="en-US" sz="1800" spc="-20" dirty="0">
                <a:effectLst/>
                <a:cs typeface="Tahoma" panose="020B0604030504040204" pitchFamily="34" charset="0"/>
              </a:rPr>
              <a:t>located</a:t>
            </a:r>
            <a:r>
              <a:rPr lang="en-US" sz="1800" dirty="0">
                <a:effectLst/>
                <a:cs typeface="Tahoma" panose="020B0604030504040204" pitchFamily="34" charset="0"/>
              </a:rPr>
              <a:t> in </a:t>
            </a:r>
            <a:r>
              <a:rPr lang="en-US" sz="1800" spc="-20" dirty="0">
                <a:effectLst/>
                <a:cs typeface="Tahoma" panose="020B0604030504040204" pitchFamily="34" charset="0"/>
              </a:rPr>
              <a:t>the</a:t>
            </a:r>
            <a:r>
              <a:rPr lang="en-US" sz="1800" spc="-5" dirty="0">
                <a:effectLst/>
                <a:cs typeface="Tahoma" panose="020B0604030504040204" pitchFamily="34" charset="0"/>
              </a:rPr>
              <a:t> </a:t>
            </a:r>
            <a:r>
              <a:rPr lang="en-US" sz="1800" spc="-10" dirty="0">
                <a:effectLst/>
                <a:cs typeface="Tahoma" panose="020B0604030504040204" pitchFamily="34" charset="0"/>
              </a:rPr>
              <a:t>floorplan.</a:t>
            </a:r>
            <a:endParaRPr lang="en-US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E0DDA-0F92-5242-AA50-016EB0ACC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640" y="1451300"/>
            <a:ext cx="5475265" cy="30809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F30574-D97F-58FA-A102-698FBD13A5AB}"/>
              </a:ext>
            </a:extLst>
          </p:cNvPr>
          <p:cNvSpPr txBox="1"/>
          <p:nvPr/>
        </p:nvSpPr>
        <p:spPr>
          <a:xfrm>
            <a:off x="465667" y="3123553"/>
            <a:ext cx="6096000" cy="99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ource-serif-pro"/>
              </a:rPr>
              <a:t>Placement DEF (standard cell locations)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ource-serif-pro"/>
              </a:rPr>
              <a:t>Congestion maps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ource-serif-pro"/>
              </a:rPr>
              <a:t>Preliminary timing reports based on </a:t>
            </a:r>
            <a:r>
              <a:rPr lang="en-US" b="1" i="0" dirty="0">
                <a:effectLst/>
                <a:latin typeface="source-serif-pro"/>
              </a:rPr>
              <a:t>virtual routing</a:t>
            </a:r>
            <a:endParaRPr lang="en-US" b="0" i="0" dirty="0"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1538016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ew image">
            <a:extLst>
              <a:ext uri="{FF2B5EF4-FFF2-40B4-BE49-F238E27FC236}">
                <a16:creationId xmlns:a16="http://schemas.microsoft.com/office/drawing/2014/main" id="{3815DF04-6AA0-03F2-FC05-2789550F3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798" y="210620"/>
            <a:ext cx="5845234" cy="643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0F58EE-C280-AF73-8274-306FA7E809EC}"/>
              </a:ext>
            </a:extLst>
          </p:cNvPr>
          <p:cNvSpPr txBox="1"/>
          <p:nvPr/>
        </p:nvSpPr>
        <p:spPr>
          <a:xfrm>
            <a:off x="387850" y="1100007"/>
            <a:ext cx="48314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ystem-ui"/>
              </a:rPr>
              <a:t>Maximum utilization is not the goal. The goal is an optimized placement with enough whitespace to achieve routing, timing, power, and signoff targets.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B9F92-6B9D-99F4-F457-B7873EE8C7BE}"/>
              </a:ext>
            </a:extLst>
          </p:cNvPr>
          <p:cNvSpPr txBox="1"/>
          <p:nvPr/>
        </p:nvSpPr>
        <p:spPr>
          <a:xfrm>
            <a:off x="550333" y="3232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info exists WCG_TRCMAX</a:t>
            </a:r>
          </a:p>
          <a:p>
            <a:r>
              <a:rPr lang="en-US" dirty="0"/>
              <a:t>puts $WCG_TRCMAX</a:t>
            </a:r>
          </a:p>
        </p:txBody>
      </p:sp>
    </p:spTree>
    <p:extLst>
      <p:ext uri="{BB962C8B-B14F-4D97-AF65-F5344CB8AC3E}">
        <p14:creationId xmlns:p14="http://schemas.microsoft.com/office/powerpoint/2010/main" val="151289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37EB8D-C8D3-3C2F-AB6D-C5690B7B4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047249"/>
              </p:ext>
            </p:extLst>
          </p:nvPr>
        </p:nvGraphicFramePr>
        <p:xfrm>
          <a:off x="458056" y="1840242"/>
          <a:ext cx="10515600" cy="2225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622980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606261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21511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Khái niệm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vi-VN">
                          <a:effectLst/>
                        </a:rPr>
                        <a:t>Công thức thường gặp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Ý nghĩa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85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Utilization</a:t>
                      </a:r>
                      <a:endParaRPr lang="en-US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>
                          <a:effectLst/>
                          <a:latin typeface="Courier New" panose="02070309020205020404" pitchFamily="49" charset="0"/>
                        </a:rPr>
                        <a:t>cell_area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 / </a:t>
                      </a:r>
                      <a:r>
                        <a:rPr lang="en-US" dirty="0" err="1">
                          <a:effectLst/>
                          <a:latin typeface="Courier New" panose="02070309020205020404" pitchFamily="49" charset="0"/>
                        </a:rPr>
                        <a:t>core_area</a:t>
                      </a:r>
                      <a:endParaRPr lang="en-US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vi-VN">
                          <a:effectLst/>
                        </a:rPr>
                        <a:t>Tỷ lệ diện tích cell chiếm trên toàn bộ core/floorplan; thường là con số “đặt mục tiêu” ban đầu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54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Density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>
                          <a:effectLst/>
                          <a:latin typeface="Courier New" panose="02070309020205020404" pitchFamily="49" charset="0"/>
                        </a:rPr>
                        <a:t>cell_area</a:t>
                      </a: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 / </a:t>
                      </a:r>
                      <a:r>
                        <a:rPr lang="en-US" dirty="0" err="1">
                          <a:effectLst/>
                          <a:latin typeface="Courier New" panose="02070309020205020404" pitchFamily="49" charset="0"/>
                        </a:rPr>
                        <a:t>allocatable_area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trong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một</a:t>
                      </a:r>
                      <a:r>
                        <a:rPr lang="en-US" dirty="0">
                          <a:effectLst/>
                        </a:rPr>
                        <a:t> region/bin </a:t>
                      </a:r>
                      <a:r>
                        <a:rPr lang="en-US" dirty="0" err="1">
                          <a:effectLst/>
                        </a:rPr>
                        <a:t>nhỏ</a:t>
                      </a:r>
                      <a:endParaRPr lang="en-US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>
                          <a:effectLst/>
                        </a:rPr>
                        <a:t>Mật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độ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thực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tế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cục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bộ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sau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khi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loại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trừ</a:t>
                      </a:r>
                      <a:r>
                        <a:rPr lang="en-US" dirty="0">
                          <a:effectLst/>
                        </a:rPr>
                        <a:t> blockage, padding, macro, keep-out, place blockage…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0548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95990D5-15EB-2AC0-2A35-30E785CC3F07}"/>
              </a:ext>
            </a:extLst>
          </p:cNvPr>
          <p:cNvSpPr txBox="1"/>
          <p:nvPr/>
        </p:nvSpPr>
        <p:spPr>
          <a:xfrm>
            <a:off x="562510" y="375477"/>
            <a:ext cx="106568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Utilization</a:t>
            </a:r>
            <a:r>
              <a:rPr lang="vi-VN" dirty="0"/>
              <a:t> trả lời câu hỏi: “Trong tổng diện tích core, bao nhiêu phần trăm được dùng cho standard cells?”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67504-760D-25A0-06AC-57A98A4EBEAB}"/>
              </a:ext>
            </a:extLst>
          </p:cNvPr>
          <p:cNvSpPr txBox="1"/>
          <p:nvPr/>
        </p:nvSpPr>
        <p:spPr>
          <a:xfrm>
            <a:off x="654977" y="1246359"/>
            <a:ext cx="11037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Density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: “Trong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cell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, cell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bao </a:t>
            </a:r>
            <a:r>
              <a:rPr lang="en-US" dirty="0" err="1"/>
              <a:t>nhiêu</a:t>
            </a:r>
            <a:r>
              <a:rPr lang="en-US" dirty="0"/>
              <a:t>?”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3A182-86F2-DF24-847B-7E4C2B5F518B}"/>
              </a:ext>
            </a:extLst>
          </p:cNvPr>
          <p:cNvSpPr txBox="1"/>
          <p:nvPr/>
        </p:nvSpPr>
        <p:spPr>
          <a:xfrm>
            <a:off x="305656" y="4174199"/>
            <a:ext cx="6097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region </a:t>
            </a:r>
            <a:r>
              <a:rPr lang="en-US" dirty="0" err="1"/>
              <a:t>có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Cell area: 6,000 µm²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Core area: 10,000 µm²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blockage/macro </a:t>
            </a:r>
            <a:r>
              <a:rPr lang="en-US" dirty="0" err="1"/>
              <a:t>chiếm</a:t>
            </a:r>
            <a:r>
              <a:rPr lang="en-US" dirty="0"/>
              <a:t>: 2,000 µm²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cell: 8,000 µm²</a:t>
            </a:r>
          </a:p>
          <a:p>
            <a:pPr>
              <a:buNone/>
            </a:pPr>
            <a:r>
              <a:rPr lang="en-US" dirty="0" err="1"/>
              <a:t>Thì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Utilization</a:t>
            </a:r>
            <a:r>
              <a:rPr lang="en-US" dirty="0"/>
              <a:t> = 6,000 / 10,000 = </a:t>
            </a:r>
            <a:r>
              <a:rPr lang="en-US" b="1" dirty="0"/>
              <a:t>60%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Density</a:t>
            </a:r>
            <a:r>
              <a:rPr lang="en-US" dirty="0"/>
              <a:t> = 6,000 / 8,000 = </a:t>
            </a:r>
            <a:r>
              <a:rPr lang="en-US" b="1" dirty="0"/>
              <a:t>75%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00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378CC1-F390-0FAF-F372-05B95D83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731" y="1771572"/>
            <a:ext cx="3016405" cy="30100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962916-61D4-CDA8-B48C-AEF3908C1C0F}"/>
              </a:ext>
            </a:extLst>
          </p:cNvPr>
          <p:cNvSpPr txBox="1"/>
          <p:nvPr/>
        </p:nvSpPr>
        <p:spPr>
          <a:xfrm>
            <a:off x="237066" y="3910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DRVs (Design Rule Violations),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B802A-3759-7300-8E1D-5EC113870212}"/>
              </a:ext>
            </a:extLst>
          </p:cNvPr>
          <p:cNvSpPr txBox="1"/>
          <p:nvPr/>
        </p:nvSpPr>
        <p:spPr>
          <a:xfrm>
            <a:off x="313268" y="1286933"/>
            <a:ext cx="67394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Pre placement place physical only cell </a:t>
            </a:r>
            <a:r>
              <a:rPr lang="en-US" dirty="0"/>
              <a:t>like</a:t>
            </a:r>
            <a:endParaRPr lang="vi-VN" dirty="0"/>
          </a:p>
          <a:p>
            <a:r>
              <a:rPr lang="en-US" dirty="0"/>
              <a:t>end-cap cells, well-tap cells, IO buffers, antenna diodes, and spare cells</a:t>
            </a:r>
            <a:r>
              <a:rPr lang="vi-VN" dirty="0"/>
              <a:t> </a:t>
            </a:r>
          </a:p>
          <a:p>
            <a:r>
              <a:rPr lang="vi-VN" dirty="0">
                <a:sym typeface="Wingdings" panose="05000000000000000000" pitchFamily="2" charset="2"/>
              </a:rPr>
              <a:t> </a:t>
            </a:r>
            <a:r>
              <a:rPr lang="en-US" dirty="0"/>
              <a:t>focus mainly on the placement steps of standard cells present in the synthesized netlist.</a:t>
            </a:r>
          </a:p>
        </p:txBody>
      </p:sp>
    </p:spTree>
    <p:extLst>
      <p:ext uri="{BB962C8B-B14F-4D97-AF65-F5344CB8AC3E}">
        <p14:creationId xmlns:p14="http://schemas.microsoft.com/office/powerpoint/2010/main" val="3284054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209174-FEA1-281B-0778-A5D54BAC9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667" y="1193801"/>
            <a:ext cx="5766258" cy="2918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35D338-5DBF-5E4D-F875-F32E2DFCD961}"/>
              </a:ext>
            </a:extLst>
          </p:cNvPr>
          <p:cNvSpPr txBox="1"/>
          <p:nvPr/>
        </p:nvSpPr>
        <p:spPr>
          <a:xfrm>
            <a:off x="211667" y="76296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1" i="1" dirty="0">
                <a:solidFill>
                  <a:srgbClr val="222222"/>
                </a:solidFill>
                <a:effectLst/>
                <a:latin typeface="-apple-system"/>
              </a:rPr>
              <a:t>Area reduction</a:t>
            </a:r>
            <a:endParaRPr lang="en-US" b="0" i="0" dirty="0">
              <a:solidFill>
                <a:srgbClr val="222222"/>
              </a:solidFill>
              <a:effectLst/>
              <a:latin typeface="-apple-system"/>
            </a:endParaRPr>
          </a:p>
          <a:p>
            <a:pPr algn="just">
              <a:buFont typeface="+mj-lt"/>
              <a:buAutoNum type="arabicPeriod"/>
            </a:pPr>
            <a:r>
              <a:rPr lang="en-US" b="1" i="1" dirty="0">
                <a:solidFill>
                  <a:srgbClr val="222222"/>
                </a:solidFill>
                <a:effectLst/>
                <a:latin typeface="-apple-system"/>
              </a:rPr>
              <a:t>Power reduction (promising for low power </a:t>
            </a:r>
            <a:r>
              <a:rPr lang="en-US" b="1" i="1" u="none" strike="noStrike" dirty="0">
                <a:solidFill>
                  <a:srgbClr val="222222"/>
                </a:solidFill>
                <a:effectLst/>
                <a:latin typeface="inherit"/>
                <a:hlinkClick r:id="rId3"/>
              </a:rPr>
              <a:t> designs</a:t>
            </a:r>
            <a:r>
              <a:rPr lang="en-US" b="1" i="1" dirty="0">
                <a:solidFill>
                  <a:srgbClr val="222222"/>
                </a:solidFill>
                <a:effectLst/>
                <a:latin typeface="-apple-system"/>
              </a:rPr>
              <a:t>)</a:t>
            </a:r>
            <a:endParaRPr lang="en-US" b="0" i="0" dirty="0">
              <a:solidFill>
                <a:srgbClr val="222222"/>
              </a:solidFill>
              <a:effectLst/>
              <a:latin typeface="-apple-system"/>
            </a:endParaRPr>
          </a:p>
          <a:p>
            <a:pPr algn="just">
              <a:buFont typeface="+mj-lt"/>
              <a:buAutoNum type="arabicPeriod"/>
            </a:pPr>
            <a:r>
              <a:rPr lang="en-US" b="1" i="1" dirty="0">
                <a:solidFill>
                  <a:srgbClr val="222222"/>
                </a:solidFill>
                <a:effectLst/>
                <a:latin typeface="-apple-system"/>
              </a:rPr>
              <a:t>Better clock skew control</a:t>
            </a:r>
            <a:endParaRPr lang="en-US" b="0" i="0" dirty="0">
              <a:solidFill>
                <a:srgbClr val="222222"/>
              </a:solidFill>
              <a:effectLst/>
              <a:latin typeface="-apple-system"/>
            </a:endParaRPr>
          </a:p>
          <a:p>
            <a:pPr algn="just">
              <a:buFont typeface="+mj-lt"/>
              <a:buAutoNum type="arabicPeriod"/>
            </a:pPr>
            <a:r>
              <a:rPr lang="en-US" b="1" i="1" dirty="0">
                <a:solidFill>
                  <a:srgbClr val="222222"/>
                </a:solidFill>
                <a:effectLst/>
                <a:latin typeface="-apple-system"/>
              </a:rPr>
              <a:t>Timing improvement</a:t>
            </a:r>
            <a:endParaRPr lang="en-US" b="0" i="0" dirty="0">
              <a:solidFill>
                <a:srgbClr val="222222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756686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5F9919-12F0-0817-0B71-C4AF57646B03}"/>
              </a:ext>
            </a:extLst>
          </p:cNvPr>
          <p:cNvSpPr txBox="1"/>
          <p:nvPr/>
        </p:nvSpPr>
        <p:spPr>
          <a:xfrm>
            <a:off x="880533" y="856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-name LIB_WCG_TRCMAX_SETUP_1P25V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A38423-2A40-1B5F-9666-DE6309A77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38857"/>
              </p:ext>
            </p:extLst>
          </p:nvPr>
        </p:nvGraphicFramePr>
        <p:xfrm>
          <a:off x="770466" y="1500294"/>
          <a:ext cx="10515600" cy="2753307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723298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57876047"/>
                    </a:ext>
                  </a:extLst>
                </a:gridCol>
              </a:tblGrid>
              <a:tr h="650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Thành phần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Ý nghĩa thường gặp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250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LIB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Library 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868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WCG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Có thể là viết tắt riêng của flow; cần kiểm tra quy ước dự án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887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TRCMAX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Có thể chỉ điều kiện RC interconnect maximum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831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SETUP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Phục vụ kiểm tra setup timing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570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1P25V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Điện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áp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nguồn</a:t>
                      </a:r>
                      <a:r>
                        <a:rPr lang="en-US" dirty="0"/>
                        <a:t> 1.25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028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130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4FA0A-A261-F6D1-DBE5-6A75E956060F}"/>
              </a:ext>
            </a:extLst>
          </p:cNvPr>
          <p:cNvSpPr txBox="1"/>
          <p:nvPr/>
        </p:nvSpPr>
        <p:spPr>
          <a:xfrm>
            <a:off x="3640667" y="69220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WNS &gt; 0 </a:t>
            </a:r>
            <a:r>
              <a:rPr lang="en-US" dirty="0" err="1"/>
              <a:t>và</a:t>
            </a:r>
            <a:r>
              <a:rPr lang="en-US" dirty="0"/>
              <a:t> TNS = 0  → timing met, </a:t>
            </a:r>
            <a:r>
              <a:rPr lang="en-US" dirty="0" err="1"/>
              <a:t>còn</a:t>
            </a:r>
            <a:r>
              <a:rPr lang="en-US" dirty="0"/>
              <a:t> margin</a:t>
            </a:r>
          </a:p>
          <a:p>
            <a:r>
              <a:rPr lang="en-US" dirty="0"/>
              <a:t>WNS = 0 </a:t>
            </a:r>
            <a:r>
              <a:rPr lang="en-US" dirty="0" err="1"/>
              <a:t>và</a:t>
            </a:r>
            <a:r>
              <a:rPr lang="en-US" dirty="0"/>
              <a:t> TNS = 0  → met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ranh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margin</a:t>
            </a:r>
          </a:p>
          <a:p>
            <a:r>
              <a:rPr lang="en-US" dirty="0"/>
              <a:t>WNS &lt; 0 </a:t>
            </a:r>
            <a:r>
              <a:rPr lang="en-US" dirty="0" err="1"/>
              <a:t>và</a:t>
            </a:r>
            <a:r>
              <a:rPr lang="en-US" dirty="0"/>
              <a:t> TNS &lt; 0  → </a:t>
            </a:r>
            <a:r>
              <a:rPr lang="en-US" dirty="0" err="1"/>
              <a:t>có</a:t>
            </a:r>
            <a:r>
              <a:rPr lang="en-US" dirty="0"/>
              <a:t> violation</a:t>
            </a:r>
          </a:p>
          <a:p>
            <a:r>
              <a:rPr lang="en-US" dirty="0"/>
              <a:t>WNS &lt; 0 </a:t>
            </a:r>
            <a:r>
              <a:rPr lang="en-US" dirty="0" err="1"/>
              <a:t>và</a:t>
            </a:r>
            <a:r>
              <a:rPr lang="en-US" dirty="0"/>
              <a:t> TNS = 0  →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/report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AAFF9F-D390-0555-4DE2-DE1985330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961880"/>
              </p:ext>
            </p:extLst>
          </p:nvPr>
        </p:nvGraphicFramePr>
        <p:xfrm>
          <a:off x="541867" y="2397708"/>
          <a:ext cx="10515600" cy="2529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633461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973173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98873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Path group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vi-VN">
                          <a:effectLst/>
                        </a:rPr>
                        <a:t>Đường đi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Ví dụ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954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reg2reg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Flip-flop → combinational logic → flip-flop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FF1/Q → logic → FF2/D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40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reg2cgate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Flip-flop → logic → clock gate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FF_EN/Q → logic → ICG/EN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77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in2reg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Input port → logic → flip-flop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>
                          <a:effectLst/>
                          <a:latin typeface="Courier New" panose="02070309020205020404" pitchFamily="49" charset="0"/>
                        </a:rPr>
                        <a:t>data_in → logic → FF/D</a:t>
                      </a:r>
                      <a:endParaRPr lang="it-IT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771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reg2out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Flip-flop → logic → output port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FF/Q → logic → data_out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64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in2out</a:t>
                      </a:r>
                      <a:endParaRPr lang="en-US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</a:rPr>
                        <a:t>Input port → logic → output port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in → combinational → out</a:t>
                      </a:r>
                      <a:endParaRPr lang="en-US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107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006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3B0C2-C743-0347-53A6-009013321402}"/>
              </a:ext>
            </a:extLst>
          </p:cNvPr>
          <p:cNvSpPr txBox="1"/>
          <p:nvPr/>
        </p:nvSpPr>
        <p:spPr>
          <a:xfrm>
            <a:off x="2785532" y="1330236"/>
            <a:ext cx="73236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all     reg2reg   reg2cgate   default</a:t>
            </a:r>
          </a:p>
          <a:p>
            <a:r>
              <a:rPr lang="en-US" dirty="0"/>
              <a:t>WNS (ns)      0.438   0.438     0.815       0.000</a:t>
            </a:r>
          </a:p>
          <a:p>
            <a:r>
              <a:rPr lang="en-US" dirty="0"/>
              <a:t>TNS (ns)      0.000   0.000     0.000       0.000</a:t>
            </a:r>
          </a:p>
          <a:p>
            <a:r>
              <a:rPr lang="en-US" dirty="0"/>
              <a:t>All Paths     75      60        5          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CD1D4-1387-607E-CA8B-ED68FB7643BC}"/>
              </a:ext>
            </a:extLst>
          </p:cNvPr>
          <p:cNvSpPr txBox="1"/>
          <p:nvPr/>
        </p:nvSpPr>
        <p:spPr>
          <a:xfrm>
            <a:off x="431799" y="2983637"/>
            <a:ext cx="114723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WNS của </a:t>
            </a:r>
            <a:r>
              <a:rPr lang="vi-VN" b="1" dirty="0">
                <a:latin typeface="Courier New" panose="02070309020205020404" pitchFamily="49" charset="0"/>
              </a:rPr>
              <a:t>reg2cgate</a:t>
            </a:r>
            <a:r>
              <a:rPr lang="vi-VN" b="1" dirty="0"/>
              <a:t> = 0.815</a:t>
            </a:r>
            <a:r>
              <a:rPr lang="vi-VN" dirty="0"/>
              <a:t>: path xấu nhất từ register đến clock gate còn dư 0.815 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TNS = 0</a:t>
            </a:r>
            <a:r>
              <a:rPr lang="vi-VN" dirty="0"/>
              <a:t>: không có path nào trong nhóm này bị violation.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All Paths = 5</a:t>
            </a:r>
            <a:r>
              <a:rPr lang="vi-VN" dirty="0"/>
              <a:t>: report đang hiển thị/đếm 5 path thuộc nhóm </a:t>
            </a:r>
            <a:r>
              <a:rPr lang="vi-VN" dirty="0">
                <a:latin typeface="Courier New" panose="02070309020205020404" pitchFamily="49" charset="0"/>
              </a:rPr>
              <a:t>reg2cgate</a:t>
            </a:r>
            <a:r>
              <a:rPr lang="vi-VN" dirty="0"/>
              <a:t>, không phải toàn bộ path trong design.</a:t>
            </a:r>
          </a:p>
        </p:txBody>
      </p:sp>
    </p:spTree>
    <p:extLst>
      <p:ext uri="{BB962C8B-B14F-4D97-AF65-F5344CB8AC3E}">
        <p14:creationId xmlns:p14="http://schemas.microsoft.com/office/powerpoint/2010/main" val="283418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C2E08C-654B-B87B-F380-5ADF71CC6A3E}"/>
              </a:ext>
            </a:extLst>
          </p:cNvPr>
          <p:cNvSpPr txBox="1"/>
          <p:nvPr/>
        </p:nvSpPr>
        <p:spPr>
          <a:xfrm>
            <a:off x="863600" y="1032007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Launch clock edge </a:t>
            </a:r>
            <a:r>
              <a:rPr lang="en-US" dirty="0" err="1"/>
              <a:t>tại</a:t>
            </a:r>
            <a:r>
              <a:rPr lang="en-US" dirty="0"/>
              <a:t> ff1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ff1/Q </a:t>
            </a:r>
            <a:r>
              <a:rPr lang="en-US" dirty="0" err="1"/>
              <a:t>phát</a:t>
            </a:r>
            <a:r>
              <a:rPr lang="en-US" dirty="0"/>
              <a:t> data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combinational logic + net delay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Data </a:t>
            </a:r>
            <a:r>
              <a:rPr lang="en-US" dirty="0" err="1"/>
              <a:t>đến</a:t>
            </a:r>
            <a:r>
              <a:rPr lang="en-US" dirty="0"/>
              <a:t> ff2/D </a:t>
            </a:r>
            <a:r>
              <a:rPr lang="en-US" dirty="0" err="1"/>
              <a:t>lúc</a:t>
            </a:r>
            <a:r>
              <a:rPr lang="en-US" dirty="0"/>
              <a:t> 4.85 ns</a:t>
            </a:r>
          </a:p>
          <a:p>
            <a:endParaRPr lang="en-US" dirty="0"/>
          </a:p>
          <a:p>
            <a:r>
              <a:rPr lang="en-US" dirty="0"/>
              <a:t>Capture clock edge </a:t>
            </a:r>
            <a:r>
              <a:rPr lang="en-US" dirty="0" err="1"/>
              <a:t>tại</a:t>
            </a:r>
            <a:r>
              <a:rPr lang="en-US" dirty="0"/>
              <a:t> ff2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Data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4.70 ns</a:t>
            </a:r>
          </a:p>
          <a:p>
            <a:r>
              <a:rPr lang="en-US" dirty="0"/>
              <a:t>        ↓</a:t>
            </a:r>
          </a:p>
          <a:p>
            <a:r>
              <a:rPr lang="en-US" dirty="0" err="1"/>
              <a:t>Thiếu</a:t>
            </a:r>
            <a:r>
              <a:rPr lang="en-US" dirty="0"/>
              <a:t> 0.15 ns</a:t>
            </a:r>
          </a:p>
        </p:txBody>
      </p:sp>
    </p:spTree>
    <p:extLst>
      <p:ext uri="{BB962C8B-B14F-4D97-AF65-F5344CB8AC3E}">
        <p14:creationId xmlns:p14="http://schemas.microsoft.com/office/powerpoint/2010/main" val="2825561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B66879-1341-B9F4-A074-AF0E7EA90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073331"/>
              </p:ext>
            </p:extLst>
          </p:nvPr>
        </p:nvGraphicFramePr>
        <p:xfrm>
          <a:off x="609600" y="1221317"/>
          <a:ext cx="10515600" cy="23774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344458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188170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11447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Tiêu chí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Timing violation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849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Kiểm tra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Giới hạn điện của net/cell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Yêu cầu thời gian truyền dữ liệu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262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Ví dụ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 transition, max capacitance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Setup Slack âm, hold Slack âm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985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Cách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khắc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phục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Buffer, resize cell, giảm fanout hoặc tải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Tối ưu logic, cell, placement và clock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442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 hệ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Có thể gây ảnh hưởng timing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Có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xảy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ngay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có</a:t>
                      </a:r>
                      <a:r>
                        <a:rPr lang="en-US" dirty="0"/>
                        <a:t> DRV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4326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3AD3A01-7591-D713-9AC8-EB679BBCB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271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biệt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DRV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Timing Violation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95348-41FD-8A11-84E4-2E2CBBA8956D}"/>
              </a:ext>
            </a:extLst>
          </p:cNvPr>
          <p:cNvSpPr txBox="1"/>
          <p:nvPr/>
        </p:nvSpPr>
        <p:spPr>
          <a:xfrm>
            <a:off x="440267" y="3669437"/>
            <a:ext cx="6400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report_constraints</a:t>
            </a:r>
            <a:r>
              <a:rPr lang="en-US" dirty="0"/>
              <a:t> -all</a:t>
            </a:r>
          </a:p>
          <a:p>
            <a:r>
              <a:rPr lang="en-US" dirty="0" err="1"/>
              <a:t>report_constraint</a:t>
            </a:r>
            <a:r>
              <a:rPr lang="en-US" dirty="0"/>
              <a:t> -</a:t>
            </a:r>
            <a:r>
              <a:rPr lang="en-US" dirty="0" err="1"/>
              <a:t>max_transition</a:t>
            </a:r>
            <a:endParaRPr lang="en-US" dirty="0"/>
          </a:p>
          <a:p>
            <a:r>
              <a:rPr lang="en-US" dirty="0" err="1"/>
              <a:t>report_constraint</a:t>
            </a:r>
            <a:r>
              <a:rPr lang="en-US" dirty="0"/>
              <a:t> -</a:t>
            </a:r>
            <a:r>
              <a:rPr lang="en-US" dirty="0" err="1"/>
              <a:t>max_capacitance</a:t>
            </a:r>
            <a:endParaRPr lang="en-US" dirty="0"/>
          </a:p>
          <a:p>
            <a:r>
              <a:rPr lang="en-US" dirty="0" err="1"/>
              <a:t>report_constraint</a:t>
            </a:r>
            <a:r>
              <a:rPr lang="en-US" dirty="0"/>
              <a:t> -</a:t>
            </a:r>
            <a:r>
              <a:rPr lang="en-US" dirty="0" err="1"/>
              <a:t>max_fanout</a:t>
            </a:r>
            <a:endParaRPr lang="en-US" dirty="0"/>
          </a:p>
          <a:p>
            <a:endParaRPr lang="en-US" dirty="0"/>
          </a:p>
          <a:p>
            <a:r>
              <a:rPr lang="en-US" dirty="0"/>
              <a:t># Sửa DRV: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flow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599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ECB63-80AD-1BDE-EA60-EDA6F16D9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7" y="1117600"/>
            <a:ext cx="5621917" cy="3056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79B3DF-AAB7-96D5-D0DA-6299E9D64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53" y="1236066"/>
            <a:ext cx="4483330" cy="25909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070463-1B31-E1F4-A43A-A6EC3B1E9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072" y="2381196"/>
            <a:ext cx="6921856" cy="20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72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766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-apple-system</vt:lpstr>
      <vt:lpstr>Arial</vt:lpstr>
      <vt:lpstr>Calibri</vt:lpstr>
      <vt:lpstr>Calibri Light</vt:lpstr>
      <vt:lpstr>Courier New</vt:lpstr>
      <vt:lpstr>Gill Sans MT</vt:lpstr>
      <vt:lpstr>inherit</vt:lpstr>
      <vt:lpstr>source-serif-pro</vt:lpstr>
      <vt:lpstr>system-ui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khuong trinh</dc:creator>
  <cp:lastModifiedBy>khuong trinh</cp:lastModifiedBy>
  <cp:revision>1</cp:revision>
  <dcterms:created xsi:type="dcterms:W3CDTF">2026-10-20T15:23:59Z</dcterms:created>
  <dcterms:modified xsi:type="dcterms:W3CDTF">2026-10-20T16:54:19Z</dcterms:modified>
</cp:coreProperties>
</file>